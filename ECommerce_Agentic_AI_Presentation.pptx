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8FAFC"/>
                </a:solidFill>
                <a:latin typeface="Arial"/>
              </a:defRPr>
            </a:pPr>
            <a:r>
              <a:t>E-COMMERCE DATA ENGINEERING &amp;</a:t>
            </a:r>
            <a:br/>
            <a:r>
              <a:t>AGENTIC AI PLATFORM</a:t>
            </a:r>
          </a:p>
          <a:p>
            <a:pPr>
              <a:spcAft>
                <a:spcPts val="24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End-to-End Medallion Architecture (Bronze/Silver/Gold) + 9-Agent Autonomous AI System</a:t>
            </a:r>
          </a:p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DEVELOPER: Student Project  |  TECH STACK: PostgreSQL • Apache Airflow • Gemini AI • Streamlit •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1. Problem Statement vs. My Solution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Why this platform was built and what business value it delivers.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EF4444"/>
                </a:solidFill>
                <a:latin typeface="Arial"/>
              </a:defRPr>
            </a:pPr>
            <a:r>
              <a:t>❌ THE BUSINESS PROBLEM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1. Raw Data Messiness:</a:t>
            </a:r>
            <a:br/>
            <a:r>
              <a:t>   E-Commerce stores process thousands of daily orders. Raw data is scattered across files with missing values, invalid dates, and currency errors.</a:t>
            </a:r>
            <a:br/>
            <a:br/>
            <a:r>
              <a:t>2. Delay &amp; Reliance on Engineers:</a:t>
            </a:r>
            <a:br/>
            <a:r>
              <a:t>   Whenever managers need answers (e.g. 'What were sales in California?'), they must wait days for data engineers to write custom database code.</a:t>
            </a:r>
            <a:br/>
            <a:br/>
            <a:r>
              <a:t>3. Lack of Actionable Insights:</a:t>
            </a:r>
            <a:br/>
            <a:r>
              <a:t>   Static spreadsheets show numbers, but fail to explain WHY sales dropped or WHAT management should do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✅ MY INTEGRATED SOLUTION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1. Automated Medallion Pipeline (Layer 1):</a:t>
            </a:r>
            <a:br/>
            <a:r>
              <a:t>   A 3-tier pipeline (Bronze → Silver → Gold) powered by PostgreSQL and Airflow that automatically cleans data, tracks location history (SCD2), and builds Star Schema tables.</a:t>
            </a:r>
            <a:br/>
            <a:br/>
            <a:r>
              <a:t>2. Autonomous Agentic AI Layer (Layer 2):</a:t>
            </a:r>
            <a:br/>
            <a:r>
              <a:t>   A team of 9 specialized AI agents connected to the Gold database that turns natural English questions into instant SQL queries, Plotly charts, and business recommendations!</a:t>
            </a:r>
            <a:br/>
            <a:br/>
            <a:r>
              <a:t>3. Zero Dependency on Data Teams:</a:t>
            </a:r>
            <a:br/>
            <a:r>
              <a:t>   Managers get instant answers in seconds!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2. Data Engineering: 3-Tier Medallion Pipeline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Refining raw data into clean, analytics-ready Star Schema tables.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D97706"/>
                </a:solidFill>
                <a:latin typeface="Arial"/>
              </a:defRPr>
            </a:pPr>
            <a:r>
              <a:t>🟫 BRONZE LAYER (RAW)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Append-only storage for original incoming customer files.</a:t>
            </a:r>
            <a:br/>
            <a:r>
              <a:t>• Preserves exact raw state without modifying values.</a:t>
            </a:r>
            <a:br/>
            <a:r>
              <a:t>• Includes batch IDs &amp; ingestion timestamps for complete auditability.</a:t>
            </a:r>
            <a:br/>
            <a:br/>
            <a:r>
              <a:t>Tables:</a:t>
            </a:r>
            <a:br/>
            <a:r>
              <a:t>• bronze.customers</a:t>
            </a:r>
            <a:br/>
            <a:r>
              <a:t>• bronze.orders</a:t>
            </a:r>
            <a:br/>
            <a:r>
              <a:t>• bronze.order_items</a:t>
            </a:r>
            <a:br/>
            <a:r>
              <a:t>• bronze.products</a:t>
            </a:r>
            <a:br/>
            <a:r>
              <a:t>• bronze.sellers</a:t>
            </a:r>
            <a:br/>
            <a:r>
              <a:t>• bronze.payments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94A3B8"/>
                </a:solidFill>
                <a:latin typeface="Arial"/>
              </a:defRPr>
            </a:pPr>
            <a:r>
              <a:t>🥈 SILVER LAYER (CLEANSED)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Cleans date formats &amp; casts currencies into NUMERIC types.</a:t>
            </a:r>
            <a:br/>
            <a:r>
              <a:t>• Removes duplicate order rows.</a:t>
            </a:r>
            <a:br/>
            <a:r>
              <a:t>• Joins product category names with English lookups.</a:t>
            </a:r>
            <a:br/>
            <a:r>
              <a:t>• Maps customer state codes to geographical regions.</a:t>
            </a:r>
            <a:br/>
            <a:r>
              <a:t>• Tracks location relocations using SCD Type 2.</a:t>
            </a:r>
            <a:br/>
            <a:br/>
            <a:r>
              <a:t>Tables:</a:t>
            </a:r>
            <a:br/>
            <a:r>
              <a:t>• silver.customers, silver.orders, silver.products, etc.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EAB308"/>
                </a:solidFill>
                <a:latin typeface="Arial"/>
              </a:defRPr>
            </a:pPr>
            <a:r>
              <a:t>🥇 GOLD LAYER (ANALYTICS)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Dimensional Star Schema optimized for high-speed business queries.</a:t>
            </a:r>
            <a:br/>
            <a:r>
              <a:t>• Central Fact Sales table with surrogate keys.</a:t>
            </a:r>
            <a:br/>
            <a:r>
              <a:t>• Revenue Mart with SQL window functions (MoM growth %, rank, cumulative revenue).</a:t>
            </a:r>
            <a:br/>
            <a:br/>
            <a:r>
              <a:t>Tables:</a:t>
            </a:r>
            <a:br/>
            <a:r>
              <a:t>• gold.fact_sales</a:t>
            </a:r>
            <a:br/>
            <a:r>
              <a:t>• gold.dim_customer, dim_product</a:t>
            </a:r>
            <a:br/>
            <a:r>
              <a:t>• gold.dim_seller, dim_date</a:t>
            </a:r>
            <a:br/>
            <a:r>
              <a:t>• gold.revenue_mart, kpi_summary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3. Historical Tracking (SCD) &amp; Data Quality Rules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Ensuring point-in-time revenue accuracy and enforcing data validation.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366F1"/>
                </a:solidFill>
                <a:latin typeface="Arial"/>
              </a:defRPr>
            </a:pPr>
            <a:r>
              <a:t>🔄 SLOWLY CHANGING DIMENSIONS (SCD)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SCD Type 1 (Overwrite):</a:t>
            </a:r>
            <a:br/>
            <a:r>
              <a:t>• Target: gold.dim_product</a:t>
            </a:r>
            <a:br/>
            <a:r>
              <a:t>• Used for basic product updates (weight, size category) where history isn't needed.</a:t>
            </a:r>
            <a:br/>
            <a:r>
              <a:t>• SQL: ON CONFLICT (product_id) DO UPDATE SET...</a:t>
            </a:r>
            <a:br/>
            <a:br/>
            <a:r>
              <a:t>SCD Type 2 (Historical Versioning):</a:t>
            </a:r>
            <a:br/>
            <a:r>
              <a:t>• Target: gold.dim_customer &amp; gold.dim_seller</a:t>
            </a:r>
            <a:br/>
            <a:r>
              <a:t>• Tracks relocations across cities/states.</a:t>
            </a:r>
            <a:br/>
            <a:r>
              <a:t>• Mechanism: Expire old record (is_current = FALSE, end_date = NOW()) and INSERT new record version (is_current = TRUE).</a:t>
            </a:r>
            <a:br/>
            <a:r>
              <a:t>• Ensures past sales stay credited to the original region!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🛡️ DATA QUALITY &amp; METADATA AUDITING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1. Primary Key Non-Null Validation:</a:t>
            </a:r>
            <a:br/>
            <a:r>
              <a:t>   Enforces non-null rules on customer_id, order_id, and product_id before processing.</a:t>
            </a:r>
            <a:br/>
            <a:br/>
            <a:r>
              <a:t>2. Range &amp; Value Constraints:</a:t>
            </a:r>
            <a:br/>
            <a:r>
              <a:t>   Prices, freight fees, and payment values must be strictly &gt; $0.00.</a:t>
            </a:r>
            <a:br/>
            <a:br/>
            <a:r>
              <a:t>3. Referential Integrity Check:</a:t>
            </a:r>
            <a:br/>
            <a:r>
              <a:t>   Fact sales records must resolve strictly to active dimension surrogate keys.</a:t>
            </a:r>
            <a:br/>
            <a:br/>
            <a:r>
              <a:t>4. Metadata Audit Log:</a:t>
            </a:r>
            <a:br/>
            <a:r>
              <a:t>   Tracks all runs in metadata.pipeline_runs, failed records in metadata.dq_results, and watermarks.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4. Agentic AI Architecture: 9 Specialist Agents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A team of autonomous AI agents collaborating to answer business questions.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80"/>
                <a:gridCol w="5242255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Name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Role &amp; Focus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Mechanism / Output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🤖 Auto Router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Intent Router &amp; Pipeline Manager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Analyzes user query and selects optimal agent sequence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📊 Data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Database &amp; SQL Expert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Generates safe SELECT queries on Gold Star Schema tables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🧠 ML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Statistician &amp; Trend Analyst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Calculates regression slopes &amp; Z-score revenue anomalies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🔮 Forecast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Predictor &amp; Trend Extrapolator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Extrapolates sales for future 1-12 months with Plotly lines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💡 Insight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Business Analyst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Transforms raw query data into 2-4 sentence evidence-backed insights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🎯 Action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Management Consultant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Recommends specific operational actions with business rationale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📋 Report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Executive Assistant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Summarizes full dashboard metrics into executive overviews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⚙️ Pipeline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 Audit 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Queries metadata.pipeline_runs &amp; dq_results for execution health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💬 General Agent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Advisor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Answers tech-stack questions on Airflow, Postgres, and Docker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5. Real Example: Multi-Agent Execution Flow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How a user question triggers a multi-agent sequence to deliver end-to-end answers.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050">
                <a:solidFill>
                  <a:srgbClr val="F8FAFC"/>
                </a:solidFill>
                <a:latin typeface="Arial"/>
              </a:defRPr>
            </a:pPr>
            <a:r>
              <a:t>💬 User Question:  'Why did profit decrease and what should management focus on?'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366F1"/>
                </a:solidFill>
                <a:latin typeface="Arial"/>
              </a:defRPr>
            </a:pPr>
            <a:r>
              <a:t>STEP 1: Auto Router 🤖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Analyzes query intent → Selects agent execution chain: Data Agent 📊 → Insight Agent 💡 → Action Agent 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3756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STEP 2: Data Agent 📊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Inspects Gold schema → Generates SELECT query → Executes safely → Retrieves revenue totals ($1.8M total sales).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  <a:latin typeface="Arial"/>
              </a:defRPr>
            </a:pPr>
            <a:r>
              <a:t>STEP 3: Insight Agent 💡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Analyzes category numbers → Identifies: 'Category X sales declined by 12% MoM due to an 18% spike in regional freight costs.'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40679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366F1"/>
                </a:solidFill>
                <a:latin typeface="Arial"/>
              </a:defRPr>
            </a:pPr>
            <a:r>
              <a:t>STEP 4: Action Agent 🎯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Formulates recommendation: 'Action: Renegotiate regional freight contracts and bundle Category X items with high-margin products.'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6. User Interface &amp; BI Dashboard Features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Streamlit presentation layer with single-pane-of-glass executive controls.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366F1"/>
                </a:solidFill>
                <a:latin typeface="Arial"/>
              </a:defRPr>
            </a:pPr>
            <a:r>
              <a:t>🧠 AI ANALYST CHATBOT TAB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Interactive Chat Prompt: Ask questions in plain English.</a:t>
            </a:r>
            <a:br/>
            <a:r>
              <a:t>• 8 Suggested Prompt Chips: Clickable buttons ('Total sales?', 'Sales forecast?') for single-click answers.</a:t>
            </a:r>
            <a:br/>
            <a:r>
              <a:t>• Clear Chat Button: Reset conversation anytime.</a:t>
            </a:r>
            <a:br/>
            <a:r>
              <a:t>• Live Status Badges: Top-right green badges showing live status for Gemini (🟢), Database (🟢), and Pipeline (🟢).</a:t>
            </a:r>
            <a:br/>
            <a:r>
              <a:t>• Agent Pipeline Display: Shows active agent execution chain (e.g. Data → Insight → Action).</a:t>
            </a:r>
            <a:br/>
            <a:r>
              <a:t>• Visual Output: Generates Plotly charts, data tables, insight cards, and recommended action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📊 4 EXECUTIVE DASHBOARD PAGES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1. Overview Page:</a:t>
            </a:r>
            <a:br/>
            <a:r>
              <a:t>   6 KPI cards (Total Revenue, Orders, Customers, Products, AOV, Growth MoM) + Filter selects for Category, Region &amp; Date.</a:t>
            </a:r>
            <a:br/>
            <a:br/>
            <a:r>
              <a:t>2. Pipeline Monitor:</a:t>
            </a:r>
            <a:br/>
            <a:r>
              <a:t>   Visual Medallion architecture flow + run logs from metadata.pipeline_runs.</a:t>
            </a:r>
            <a:br/>
            <a:br/>
            <a:r>
              <a:t>3. Data Quality Page:</a:t>
            </a:r>
            <a:br/>
            <a:r>
              <a:t>   Audit reports showing passed vs failed rules &amp; failure distribution graphs.</a:t>
            </a:r>
            <a:br/>
            <a:br/>
            <a:r>
              <a:t>4. ML Insights Page:</a:t>
            </a:r>
            <a:br/>
            <a:r>
              <a:t>   Moving average lines, Z-score anomaly threshold graphs &amp; MoM growth breakdown.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7. Project Evaluation Summary &amp; Live Demo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100% operational, fully verified, and ready for live presentation.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⭐ KEY PROJECT HIGHLIGHTS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End-to-End Pipeline: Raw data ingested, cleansed in Silver, and modeled into Gold Star Schema (3,938 records).</a:t>
            </a:r>
            <a:br/>
            <a:r>
              <a:t>• Historical Accuracy: Fully supports SCD Type 1 &amp; Type 2 location history.</a:t>
            </a:r>
            <a:br/>
            <a:r>
              <a:t>• Robust Data Quality: Great Expectations rules &amp; execution tracking.</a:t>
            </a:r>
            <a:br/>
            <a:r>
              <a:t>• Autonomous Multi-Agent AI: 9 specialized AI agents collaborating.</a:t>
            </a:r>
            <a:br/>
            <a:r>
              <a:t>• SQL Security: Enforces strict read-only query validator (blocks DROP, DELETE, etc.).</a:t>
            </a:r>
            <a:br/>
            <a:r>
              <a:t>• Rate-Limit Protection: Fast pattern fallbacks ensure instant answers (&lt; 1 second).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366F1"/>
                </a:solidFill>
                <a:latin typeface="Arial"/>
              </a:defRPr>
            </a:pPr>
            <a:r>
              <a:t>🚀 LIVE EVALUATION DEMO URLS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1. Streamlit Application &amp; AI Chatbot:</a:t>
            </a:r>
            <a:br/>
            <a:r>
              <a:t>   URL:  http://localhost:8501</a:t>
            </a:r>
            <a:br/>
            <a:r>
              <a:t>   Status:  100% Connected &amp; Ready (All Badges Green 🟢)</a:t>
            </a:r>
            <a:br/>
            <a:br/>
            <a:r>
              <a:t>2. Apache Airflow Pipeline Orchestration:</a:t>
            </a:r>
            <a:br/>
            <a:r>
              <a:t>   URL:  http://localhost:8080</a:t>
            </a:r>
            <a:br/>
            <a:r>
              <a:t>   User: admin  /  Password: admin123</a:t>
            </a:r>
            <a:br/>
            <a:r>
              <a:t>   DAGs: 01_bronze_ingestion, 02_silver_transform, 03_gold_aggregation</a:t>
            </a:r>
            <a:br/>
            <a:br/>
            <a:r>
              <a:t>3. Comprehensive PDF Report Generated:</a:t>
            </a:r>
            <a:br/>
            <a:r>
              <a:t>   File: Data_Engineering_Agentic_AI_Final_Report.pdf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