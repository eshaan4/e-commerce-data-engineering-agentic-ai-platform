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37160" cy="41148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F8FAFC"/>
                </a:solidFill>
                <a:latin typeface="Arial"/>
              </a:defRPr>
            </a:pPr>
            <a:r>
              <a:t>E-COMMERCE DATA ENGINEERING &amp;</a:t>
            </a:r>
            <a:br/>
            <a:r>
              <a:t>AGENTIC AI PLATFORM</a:t>
            </a:r>
          </a:p>
          <a:p>
            <a:pPr>
              <a:spcAft>
                <a:spcPts val="2400"/>
              </a:spcAft>
              <a:defRPr sz="1600">
                <a:solidFill>
                  <a:srgbClr val="94A3B8"/>
                </a:solidFill>
                <a:latin typeface="Arial"/>
              </a:defRPr>
            </a:pPr>
            <a:r>
              <a:t>End-to-End Medallion Data Engineering Pipeline + 9-Agent Autonomous AI Engine</a:t>
            </a:r>
          </a:p>
          <a:p>
            <a:pPr>
              <a:defRPr sz="1100" b="1">
                <a:solidFill>
                  <a:srgbClr val="10B981"/>
                </a:solidFill>
                <a:latin typeface="Arial"/>
              </a:defRPr>
            </a:pPr>
            <a:r>
              <a:t>DEVELOPER: Student Project  |  TECH STACK: PostgreSQL • Apache Airflow • Gemini AI • Streamlit • Docker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1. Business Problem vs. My Solution</a:t>
            </a:r>
          </a:p>
          <a:p>
            <a:pPr>
              <a:spcBef>
                <a:spcPts val="300"/>
              </a:spcBef>
              <a:defRPr sz="1150">
                <a:solidFill>
                  <a:srgbClr val="94A3B8"/>
                </a:solidFill>
                <a:latin typeface="Arial"/>
              </a:defRPr>
            </a:pPr>
            <a:r>
              <a:t>Why this platform was built and what business value it delivers.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600"/>
              </a:spcAft>
              <a:defRPr sz="1350" b="1">
                <a:solidFill>
                  <a:srgbClr val="EF4444"/>
                </a:solidFill>
                <a:latin typeface="Arial"/>
              </a:defRPr>
            </a:pPr>
            <a:r>
              <a:t>❌ THE BUSINESS PROBLEM</a:t>
            </a:r>
          </a:p>
          <a:p>
            <a:pPr>
              <a:spcBef>
                <a:spcPts val="3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1. Raw Data Messiness:</a:t>
            </a:r>
            <a:br/>
            <a:r>
              <a:t>   E-Commerce stores process thousands of daily orders. Raw data is scattered across files with missing values, invalid dates, and currency errors.</a:t>
            </a:r>
            <a:br/>
            <a:br/>
            <a:r>
              <a:t>2. Delay &amp; Reliance on Engineers:</a:t>
            </a:r>
            <a:br/>
            <a:r>
              <a:t>   Whenever managers need answers (e.g. 'What were sales in California?'), they must wait days for data engineers to write custom database code.</a:t>
            </a:r>
            <a:br/>
            <a:br/>
            <a:r>
              <a:t>3. Lack of Actionable Insights:</a:t>
            </a:r>
            <a:br/>
            <a:r>
              <a:t>   Static spreadsheets show numbers, but fail to explain WHY sales dropped or WHAT management should do next.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600"/>
              </a:spcAft>
              <a:defRPr sz="1350" b="1">
                <a:solidFill>
                  <a:srgbClr val="10B981"/>
                </a:solidFill>
                <a:latin typeface="Arial"/>
              </a:defRPr>
            </a:pPr>
            <a:r>
              <a:t>✅ MY INTEGRATED SOLUTION</a:t>
            </a:r>
          </a:p>
          <a:p>
            <a:pPr>
              <a:spcBef>
                <a:spcPts val="3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1. Automated Medallion Pipeline (Layer 1):</a:t>
            </a:r>
            <a:br/>
            <a:r>
              <a:t>   A 3-tier pipeline (Bronze → Silver → Gold) powered by PostgreSQL and Airflow that automatically cleans data, tracks location history (SCD2), and builds Star Schema tables.</a:t>
            </a:r>
            <a:br/>
            <a:br/>
            <a:r>
              <a:t>2. Autonomous Agentic AI Layer (Layer 2):</a:t>
            </a:r>
            <a:br/>
            <a:r>
              <a:t>   A team of 9 specialized AI agents connected to the Gold database that turns natural English questions into instant SQL queries, Plotly charts, and business recommendations!</a:t>
            </a:r>
            <a:br/>
            <a:br/>
            <a:r>
              <a:t>3. Zero Dependency on Data Teams:</a:t>
            </a:r>
            <a:br/>
            <a:r>
              <a:t>   Managers get instant answers in seconds!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2. Data Engineering: Medallion Architecture</a:t>
            </a:r>
          </a:p>
          <a:p>
            <a:pPr>
              <a:spcBef>
                <a:spcPts val="300"/>
              </a:spcBef>
              <a:defRPr sz="1150">
                <a:solidFill>
                  <a:srgbClr val="94A3B8"/>
                </a:solidFill>
                <a:latin typeface="Arial"/>
              </a:defRPr>
            </a:pPr>
            <a:r>
              <a:t>Refining raw incoming data into pure, analytics-ready Star Schema tables.</a:t>
            </a:r>
          </a:p>
        </p:txBody>
      </p:sp>
      <p:pic>
        <p:nvPicPr>
          <p:cNvPr id="4" name="Picture 3" descr="medallion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10728655" cy="12209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4114800"/>
            <a:ext cx="10728655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600"/>
              </a:spcAft>
              <a:defRPr sz="1350" b="1">
                <a:solidFill>
                  <a:srgbClr val="6366F1"/>
                </a:solidFill>
                <a:latin typeface="Arial"/>
              </a:defRPr>
            </a:pPr>
            <a:r>
              <a:t>MEDALLION PIPELINE BREAKDOWN</a:t>
            </a:r>
          </a:p>
          <a:p>
            <a:pPr>
              <a:spcBef>
                <a:spcPts val="3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Bronze Layer (🟫 Raw): Append-only storage for original customer order feeds. Preserves raw state with batch IDs and timestamps.</a:t>
            </a:r>
            <a:br/>
            <a:r>
              <a:t>• Silver Layer (🥈 Cleansed): Standardizes date formats, cleans currencies, removes duplicates, translates categories to English, and tracks SCD Type 2.</a:t>
            </a:r>
            <a:br/>
            <a:r>
              <a:t>• Gold Layer (🥇 Analytics Star Schema): Optimized dimensional star schema (fact_sales, dim_customer, dim_product, dim_seller, dim_date, revenue_mart).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3. Historical Tracking (SCD) &amp; Data Quality Rules</a:t>
            </a:r>
          </a:p>
          <a:p>
            <a:pPr>
              <a:spcBef>
                <a:spcPts val="300"/>
              </a:spcBef>
              <a:defRPr sz="1150">
                <a:solidFill>
                  <a:srgbClr val="94A3B8"/>
                </a:solidFill>
                <a:latin typeface="Arial"/>
              </a:defRPr>
            </a:pPr>
            <a:r>
              <a:t>Ensuring point-in-time revenue accuracy and enforcing data validation.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600"/>
              </a:spcAft>
              <a:defRPr sz="1350" b="1">
                <a:solidFill>
                  <a:srgbClr val="6366F1"/>
                </a:solidFill>
                <a:latin typeface="Arial"/>
              </a:defRPr>
            </a:pPr>
            <a:r>
              <a:t>🔄 SLOWLY CHANGING DIMENSIONS (SCD)</a:t>
            </a:r>
          </a:p>
          <a:p>
            <a:pPr>
              <a:spcBef>
                <a:spcPts val="3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SCD Type 1 (Overwrite):</a:t>
            </a:r>
            <a:br/>
            <a:r>
              <a:t>• Target: gold.dim_product</a:t>
            </a:r>
            <a:br/>
            <a:r>
              <a:t>• Used for basic product updates (weight, size category) where history isn't needed.</a:t>
            </a:r>
            <a:br/>
            <a:r>
              <a:t>• SQL: ON CONFLICT (product_id) DO UPDATE SET...</a:t>
            </a:r>
            <a:br/>
            <a:br/>
            <a:r>
              <a:t>SCD Type 2 (Historical Versioning):</a:t>
            </a:r>
            <a:br/>
            <a:r>
              <a:t>• Target: gold.dim_customer &amp; gold.dim_seller</a:t>
            </a:r>
            <a:br/>
            <a:r>
              <a:t>• Tracks relocations across cities/states.</a:t>
            </a:r>
            <a:br/>
            <a:r>
              <a:t>• Mechanism: Expire old record (is_current = FALSE, end_date = NOW()) and INSERT new record version (is_current = TRUE).</a:t>
            </a:r>
            <a:br/>
            <a:r>
              <a:t>• Guarantees past sales stay credited to original regions!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600"/>
              </a:spcAft>
              <a:defRPr sz="1350" b="1">
                <a:solidFill>
                  <a:srgbClr val="10B981"/>
                </a:solidFill>
                <a:latin typeface="Arial"/>
              </a:defRPr>
            </a:pPr>
            <a:r>
              <a:t>🛡️ DATA QUALITY &amp; METADATA AUDITING</a:t>
            </a:r>
          </a:p>
          <a:p>
            <a:pPr>
              <a:spcBef>
                <a:spcPts val="3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1. Primary Key Non-Null Validation:</a:t>
            </a:r>
            <a:br/>
            <a:r>
              <a:t>   Enforces non-null rules on customer_id, order_id, and product_id before processing.</a:t>
            </a:r>
            <a:br/>
            <a:br/>
            <a:r>
              <a:t>2. Range &amp; Value Constraints:</a:t>
            </a:r>
            <a:br/>
            <a:r>
              <a:t>   Prices, freight fees, and payment values must be strictly &gt; $0.00.</a:t>
            </a:r>
            <a:br/>
            <a:br/>
            <a:r>
              <a:t>3. Referential Integrity Check:</a:t>
            </a:r>
            <a:br/>
            <a:r>
              <a:t>   Fact sales records must resolve strictly to active dimension surrogate keys.</a:t>
            </a:r>
            <a:br/>
            <a:br/>
            <a:r>
              <a:t>4. Metadata Audit Log:</a:t>
            </a:r>
            <a:br/>
            <a:r>
              <a:t>   Tracks all runs in metadata.pipeline_runs, failed records in metadata.dq_results, and watermarks.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4. Data Science &amp; ML Engine</a:t>
            </a:r>
          </a:p>
          <a:p>
            <a:pPr>
              <a:spcBef>
                <a:spcPts val="300"/>
              </a:spcBef>
              <a:defRPr sz="1150">
                <a:solidFill>
                  <a:srgbClr val="94A3B8"/>
                </a:solidFill>
                <a:latin typeface="Arial"/>
              </a:defRPr>
            </a:pPr>
            <a:r>
              <a:t>Regression trends, moving averages, Z-score anomaly detection, and linear forecasting.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493776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600"/>
              </a:spcAft>
              <a:defRPr sz="1350" b="1">
                <a:solidFill>
                  <a:srgbClr val="6366F1"/>
                </a:solidFill>
                <a:latin typeface="Arial"/>
              </a:defRPr>
            </a:pPr>
            <a:r>
              <a:t>🧠 STATISTICAL &amp; ML CAPABILITIES</a:t>
            </a:r>
          </a:p>
          <a:p>
            <a:pPr>
              <a:spcBef>
                <a:spcPts val="3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1. Linear Trend Regression:</a:t>
            </a:r>
            <a:br/>
            <a:r>
              <a:t>   Computes regression slopes on monthly revenue time-series to determine whether sales trajectories are increasing or decreasing.</a:t>
            </a:r>
            <a:br/>
            <a:br/>
            <a:r>
              <a:t>2. Z-Score Anomaly Detection:</a:t>
            </a:r>
            <a:br/>
            <a:r>
              <a:t>   Calculates statistical Z-scores across monthly revenue. Months where |Z| &gt; 2.0 are flagged as revenue anomalies.</a:t>
            </a:r>
            <a:br/>
            <a:br/>
            <a:r>
              <a:t>3. Revenue Forecasting:</a:t>
            </a:r>
            <a:br/>
            <a:r>
              <a:t>   Extrapolates sales for 1 to 12 months ahead using linear regression extrapolation (numpy.polyfit).</a:t>
            </a:r>
            <a:br/>
            <a:br/>
            <a:r>
              <a:t>4. 3-Period Moving Average:</a:t>
            </a:r>
            <a:br/>
            <a:r>
              <a:t>   Smooths short-term fluctuations to reveal underlying growth.</a:t>
            </a:r>
          </a:p>
        </p:txBody>
      </p:sp>
      <p:pic>
        <p:nvPicPr>
          <p:cNvPr id="5" name="Picture 4" descr="forecast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463040"/>
            <a:ext cx="5577840" cy="275361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5. Agentic AI System: 9 Specialist Agents</a:t>
            </a:r>
          </a:p>
          <a:p>
            <a:pPr>
              <a:spcBef>
                <a:spcPts val="300"/>
              </a:spcBef>
              <a:defRPr sz="1150">
                <a:solidFill>
                  <a:srgbClr val="94A3B8"/>
                </a:solidFill>
                <a:latin typeface="Arial"/>
              </a:defRPr>
            </a:pPr>
            <a:r>
              <a:t>A team of autonomous AI agents collaborating to answer complex business questions.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463040"/>
          <a:ext cx="1072865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3840480"/>
                <a:gridCol w="5242255"/>
              </a:tblGrid>
              <a:tr h="47548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Agent Name</a:t>
                      </a:r>
                    </a:p>
                  </a:txBody>
                  <a:tcPr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Primary Role &amp; Focus</a:t>
                      </a:r>
                    </a:p>
                  </a:txBody>
                  <a:tcPr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Technical Mechanism / Output</a:t>
                      </a:r>
                    </a:p>
                  </a:txBody>
                  <a:tcPr>
                    <a:solidFill>
                      <a:srgbClr val="6366F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🤖 Auto Router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Intent Router &amp; Pipeline Manager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Analyzes user query and selects optimal agent sequence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📊 Data Agent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Database &amp; SQL Expert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Generates safe SELECT queries on Gold Star Schema tables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🧠 ML Agent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Statistician &amp; Trend Analyst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Calculates regression slopes &amp; Z-score revenue anomalies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🔮 Forecast Agent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Predictor &amp; Trend Extrapolator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Extrapolates sales for future 1-12 months with Plotly lines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💡 Insight Agent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Business Analyst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Transforms raw query data into 2-4 sentence evidence-backed insights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🎯 Action Agent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Management Consultant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Recommends specific operational actions with business rationale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📋 Report Agent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Executive Assistant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Summarizes full dashboard metrics into executive overviews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⚙️ Pipeline Agent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Data Engineer Audit Agent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Queries metadata.pipeline_runs &amp; dq_results for execution health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💬 General Agent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Technical Advisor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Answers tech-stack questions on Airflow, Postgres, and Docker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6. Multi-Agent Orchestration Flow</a:t>
            </a:r>
          </a:p>
          <a:p>
            <a:pPr>
              <a:spcBef>
                <a:spcPts val="300"/>
              </a:spcBef>
              <a:defRPr sz="1150">
                <a:solidFill>
                  <a:srgbClr val="94A3B8"/>
                </a:solidFill>
                <a:latin typeface="Arial"/>
              </a:defRPr>
            </a:pPr>
            <a:r>
              <a:t>Autonomous intent classification, sequential agent chaining, and context forwarding.</a:t>
            </a:r>
          </a:p>
        </p:txBody>
      </p:sp>
      <p:pic>
        <p:nvPicPr>
          <p:cNvPr id="4" name="Picture 3" descr="agent_flow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10728655" cy="161679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4114800"/>
            <a:ext cx="10728655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600"/>
              </a:spcAft>
              <a:defRPr sz="1350" b="1">
                <a:solidFill>
                  <a:srgbClr val="6366F1"/>
                </a:solidFill>
                <a:latin typeface="Arial"/>
              </a:defRPr>
            </a:pPr>
            <a:r>
              <a:t>HOW AGENTS CHAIN TOGETHER</a:t>
            </a:r>
          </a:p>
          <a:p>
            <a:pPr>
              <a:spcBef>
                <a:spcPts val="3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1. User Question → Auto Router analyzes intent and selects agent sequence (e.g. ['data', 'insight', 'action']).</a:t>
            </a:r>
            <a:br/>
            <a:r>
              <a:t>2. Data Agent executes safe SQL against Gold schema → Passes query results as context to Insight Agent.</a:t>
            </a:r>
            <a:br/>
            <a:r>
              <a:t>3. Insight Agent derives evidence-backed business insights → Passes insight as context to Action Agent.</a:t>
            </a:r>
            <a:br/>
            <a:r>
              <a:t>4. Action Agent formulates specific management recommendations → Streamlit UI renders formatted response cards.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7. Case Study: Answering a Complex Question</a:t>
            </a:r>
          </a:p>
          <a:p>
            <a:pPr>
              <a:spcBef>
                <a:spcPts val="300"/>
              </a:spcBef>
              <a:defRPr sz="1150">
                <a:solidFill>
                  <a:srgbClr val="94A3B8"/>
                </a:solidFill>
                <a:latin typeface="Arial"/>
              </a:defRPr>
            </a:pPr>
            <a:r>
              <a:t>Step-by-step execution trace when a user asks a complex multi-part question.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728655" cy="7315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000">
                <a:solidFill>
                  <a:srgbClr val="F8FAFC"/>
                </a:solidFill>
                <a:latin typeface="Arial"/>
              </a:defRPr>
            </a:pPr>
            <a:r>
              <a:t>💬 User Question:  'Why did profit decrease and what should management focus on?'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286000"/>
            <a:ext cx="10728655" cy="914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600"/>
              </a:spcAft>
              <a:defRPr sz="1350" b="1">
                <a:solidFill>
                  <a:srgbClr val="6366F1"/>
                </a:solidFill>
                <a:latin typeface="Arial"/>
              </a:defRPr>
            </a:pPr>
            <a:r>
              <a:t>STEP 1: Auto Router 🤖</a:t>
            </a:r>
          </a:p>
          <a:p>
            <a:pPr>
              <a:spcBef>
                <a:spcPts val="3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Analyzes query intent → Selects agent execution chain: Data Agent 📊 → Insight Agent 💡 → Action Agent 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337560"/>
            <a:ext cx="10728655" cy="914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600"/>
              </a:spcAft>
              <a:defRPr sz="1350" b="1">
                <a:solidFill>
                  <a:srgbClr val="10B981"/>
                </a:solidFill>
                <a:latin typeface="Arial"/>
              </a:defRPr>
            </a:pPr>
            <a:r>
              <a:t>STEP 2: Data Agent 📊</a:t>
            </a:r>
          </a:p>
          <a:p>
            <a:pPr>
              <a:spcBef>
                <a:spcPts val="3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Inspects Gold schema → Generates SELECT query → Executes safely → Retrieves revenue totals ($1.8M total sales).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389120"/>
            <a:ext cx="10728655" cy="914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600"/>
              </a:spcAft>
              <a:defRPr sz="1350" b="1">
                <a:solidFill>
                  <a:srgbClr val="F59E0B"/>
                </a:solidFill>
                <a:latin typeface="Arial"/>
              </a:defRPr>
            </a:pPr>
            <a:r>
              <a:t>STEP 3: Insight Agent 💡</a:t>
            </a:r>
          </a:p>
          <a:p>
            <a:pPr>
              <a:spcBef>
                <a:spcPts val="3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Analyzes category numbers → Identifies: 'Category X sales declined by 12% MoM due to an 18% spike in regional freight costs.'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440679"/>
            <a:ext cx="10728655" cy="914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600"/>
              </a:spcAft>
              <a:defRPr sz="1350" b="1">
                <a:solidFill>
                  <a:srgbClr val="6366F1"/>
                </a:solidFill>
                <a:latin typeface="Arial"/>
              </a:defRPr>
            </a:pPr>
            <a:r>
              <a:t>STEP 4: Action Agent 🎯</a:t>
            </a:r>
          </a:p>
          <a:p>
            <a:pPr>
              <a:spcBef>
                <a:spcPts val="3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Formulates recommendation: 'Action: Renegotiate regional freight contracts and bundle Category X items with high-margin products.'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8. Presentation Layer &amp; UI Features</a:t>
            </a:r>
          </a:p>
          <a:p>
            <a:pPr>
              <a:spcBef>
                <a:spcPts val="300"/>
              </a:spcBef>
              <a:defRPr sz="1150">
                <a:solidFill>
                  <a:srgbClr val="94A3B8"/>
                </a:solidFill>
                <a:latin typeface="Arial"/>
              </a:defRPr>
            </a:pPr>
            <a:r>
              <a:t>Streamlit presentation layer with single-pane-of-glass executive controls.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600"/>
              </a:spcAft>
              <a:defRPr sz="1350" b="1">
                <a:solidFill>
                  <a:srgbClr val="6366F1"/>
                </a:solidFill>
                <a:latin typeface="Arial"/>
              </a:defRPr>
            </a:pPr>
            <a:r>
              <a:t>🧠 AI ANALYST CHATBOT TAB</a:t>
            </a:r>
          </a:p>
          <a:p>
            <a:pPr>
              <a:spcBef>
                <a:spcPts val="3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Interactive Chat Prompt: Ask questions in plain English.</a:t>
            </a:r>
            <a:br/>
            <a:r>
              <a:t>• 8 Suggested Prompt Chips: Clickable buttons ('Total sales?', 'Sales forecast?') for single-click answers.</a:t>
            </a:r>
            <a:br/>
            <a:r>
              <a:t>• Clear Chat Button: Reset conversation anytime.</a:t>
            </a:r>
            <a:br/>
            <a:r>
              <a:t>• Live Status Badges: Top-right green badges showing live status for Gemini (🟢), Database (🟢), and Pipeline (🟢).</a:t>
            </a:r>
            <a:br/>
            <a:r>
              <a:t>• Agent Pipeline Display: Shows active agent execution chain (e.g. Data → Insight → Action).</a:t>
            </a:r>
            <a:br/>
            <a:r>
              <a:t>• Visual Output: Generates Plotly charts, data tables, insight cards, and recommended action boxes.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600"/>
              </a:spcAft>
              <a:defRPr sz="1350" b="1">
                <a:solidFill>
                  <a:srgbClr val="10B981"/>
                </a:solidFill>
                <a:latin typeface="Arial"/>
              </a:defRPr>
            </a:pPr>
            <a:r>
              <a:t>📊 4 EXECUTIVE DASHBOARD PAGES</a:t>
            </a:r>
          </a:p>
          <a:p>
            <a:pPr>
              <a:spcBef>
                <a:spcPts val="3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1. Overview Page:</a:t>
            </a:r>
            <a:br/>
            <a:r>
              <a:t>   6 KPI cards (Total Revenue, Orders, Customers, Products, AOV, Growth MoM) + Filter selects for Category, Region &amp; Date.</a:t>
            </a:r>
            <a:br/>
            <a:br/>
            <a:r>
              <a:t>2. Pipeline Monitor:</a:t>
            </a:r>
            <a:br/>
            <a:r>
              <a:t>   Visual Medallion architecture flow + run logs from metadata.pipeline_runs.</a:t>
            </a:r>
            <a:br/>
            <a:br/>
            <a:r>
              <a:t>3. Data Quality Page:</a:t>
            </a:r>
            <a:br/>
            <a:r>
              <a:t>   Audit reports showing passed vs failed rules &amp; failure distribution graphs.</a:t>
            </a:r>
            <a:br/>
            <a:br/>
            <a:r>
              <a:t>4. ML Insights Page:</a:t>
            </a:r>
            <a:br/>
            <a:r>
              <a:t>   Moving average lines, Z-score anomaly threshold graphs &amp; MoM growth breakdown.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9. Project Evaluation Summary &amp; Live Demo</a:t>
            </a:r>
          </a:p>
          <a:p>
            <a:pPr>
              <a:spcBef>
                <a:spcPts val="300"/>
              </a:spcBef>
              <a:defRPr sz="1150">
                <a:solidFill>
                  <a:srgbClr val="94A3B8"/>
                </a:solidFill>
                <a:latin typeface="Arial"/>
              </a:defRPr>
            </a:pPr>
            <a:r>
              <a:t>100% operational, fully verified, and ready for live presentation.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600"/>
              </a:spcAft>
              <a:defRPr sz="1350" b="1">
                <a:solidFill>
                  <a:srgbClr val="10B981"/>
                </a:solidFill>
                <a:latin typeface="Arial"/>
              </a:defRPr>
            </a:pPr>
            <a:r>
              <a:t>⭐ KEY PROJECT HIGHLIGHTS</a:t>
            </a:r>
          </a:p>
          <a:p>
            <a:pPr>
              <a:spcBef>
                <a:spcPts val="3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End-to-End Pipeline: Raw data ingested, cleansed in Silver, and modeled into Gold Star Schema (3,938 records).</a:t>
            </a:r>
            <a:br/>
            <a:r>
              <a:t>• Historical Accuracy: Fully supports SCD Type 1 &amp; Type 2 location history.</a:t>
            </a:r>
            <a:br/>
            <a:r>
              <a:t>• Robust Data Quality: Great Expectations rules &amp; execution tracking.</a:t>
            </a:r>
            <a:br/>
            <a:r>
              <a:t>• Autonomous Multi-Agent AI: 9 specialized AI agents collaborating.</a:t>
            </a:r>
            <a:br/>
            <a:r>
              <a:t>• SQL Security: Enforces strict read-only query validator (blocks DROP, DELETE, etc.).</a:t>
            </a:r>
            <a:br/>
            <a:r>
              <a:t>• Rate-Limit Protection: Fast pattern fallbacks ensure instant answers (&lt; 1 second).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600"/>
              </a:spcAft>
              <a:defRPr sz="1350" b="1">
                <a:solidFill>
                  <a:srgbClr val="6366F1"/>
                </a:solidFill>
                <a:latin typeface="Arial"/>
              </a:defRPr>
            </a:pPr>
            <a:r>
              <a:t>🚀 LIVE EVALUATION DEMO URLS</a:t>
            </a:r>
          </a:p>
          <a:p>
            <a:pPr>
              <a:spcBef>
                <a:spcPts val="3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1. Streamlit Application &amp; AI Chatbot:</a:t>
            </a:r>
            <a:br/>
            <a:r>
              <a:t>   URL:  http://localhost:8501</a:t>
            </a:r>
            <a:br/>
            <a:r>
              <a:t>   Status:  100% Connected &amp; Ready (All Badges Green 🟢)</a:t>
            </a:r>
            <a:br/>
            <a:br/>
            <a:r>
              <a:t>2. Apache Airflow Pipeline Orchestration:</a:t>
            </a:r>
            <a:br/>
            <a:r>
              <a:t>   URL:  http://localhost:8080</a:t>
            </a:r>
            <a:br/>
            <a:r>
              <a:t>   User: admin  /  Password: admin123</a:t>
            </a:r>
            <a:br/>
            <a:r>
              <a:t>   DAGs: 01_bronze_ingestion, 02_silver_transform, 03_gold_aggregation</a:t>
            </a:r>
            <a:br/>
            <a:br/>
            <a:r>
              <a:t>3. Comprehensive PDF Report &amp; GitHub Repo:</a:t>
            </a:r>
            <a:br/>
            <a:r>
              <a:t>   GitHub: https://github.com/Eshaan4/E-COMMERCE-DATA-ENGINEERING-AGENTIC-AI-PLATFORM.git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